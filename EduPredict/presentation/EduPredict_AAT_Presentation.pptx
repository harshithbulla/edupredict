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F4E79"/>
                </a:solidFill>
              </a:defRPr>
            </a:pPr>
            <a:r>
              <a:t>EduPredict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• Student Performance Prediction Using Linear Regression</a:t>
            </a:r>
          </a:p>
          <a:p>
            <a:pPr>
              <a:spcAft>
                <a:spcPts val="800"/>
              </a:spcAft>
              <a:defRPr sz="2000"/>
            </a:pPr>
            <a:r>
              <a:t>• </a:t>
            </a:r>
          </a:p>
          <a:p>
            <a:pPr>
              <a:spcAft>
                <a:spcPts val="800"/>
              </a:spcAft>
              <a:defRPr sz="2000"/>
            </a:pPr>
            <a:r>
              <a:t>• Name: ______________________</a:t>
            </a:r>
          </a:p>
          <a:p>
            <a:pPr>
              <a:spcAft>
                <a:spcPts val="800"/>
              </a:spcAft>
              <a:defRPr sz="2000"/>
            </a:pPr>
            <a:r>
              <a:t>• USN: ______________________</a:t>
            </a:r>
          </a:p>
          <a:p>
            <a:pPr>
              <a:spcAft>
                <a:spcPts val="800"/>
              </a:spcAft>
              <a:defRPr sz="2000"/>
            </a:pPr>
            <a:r>
              <a:t>• Department: ______________________</a:t>
            </a:r>
          </a:p>
          <a:p>
            <a:pPr>
              <a:spcAft>
                <a:spcPts val="800"/>
              </a:spcAft>
              <a:defRPr sz="2000"/>
            </a:pPr>
            <a:r>
              <a:t>• College: ______________________</a:t>
            </a:r>
          </a:p>
          <a:p>
            <a:pPr>
              <a:spcAft>
                <a:spcPts val="800"/>
              </a:spcAft>
              <a:defRPr sz="2000"/>
            </a:pPr>
            <a:r>
              <a:t>• Academic Year: ______________________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• Machine Learning: computers learn patterns from data.</a:t>
            </a:r>
          </a:p>
          <a:p>
            <a:pPr>
              <a:spcAft>
                <a:spcPts val="800"/>
              </a:spcAft>
              <a:defRPr sz="2000"/>
            </a:pPr>
            <a:r>
              <a:t>• Supervised learning uses data where answers are known.</a:t>
            </a:r>
          </a:p>
          <a:p>
            <a:pPr>
              <a:spcAft>
                <a:spcPts val="800"/>
              </a:spcAft>
              <a:defRPr sz="2000"/>
            </a:pPr>
            <a:r>
              <a:t>• Regression predicts continuous numeric values.</a:t>
            </a:r>
          </a:p>
          <a:p>
            <a:pPr>
              <a:spcAft>
                <a:spcPts val="800"/>
              </a:spcAft>
              <a:defRPr sz="2000"/>
            </a:pPr>
            <a:r>
              <a:t>• Goal: predict final exam marks from academic behavior.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• Predict a student's final exam marks using:</a:t>
            </a:r>
          </a:p>
          <a:p>
            <a:pPr>
              <a:spcAft>
                <a:spcPts val="800"/>
              </a:spcAft>
              <a:defRPr sz="2000"/>
            </a:pPr>
            <a:r>
              <a:t>•    Study hours per day</a:t>
            </a:r>
          </a:p>
          <a:p>
            <a:pPr>
              <a:spcAft>
                <a:spcPts val="800"/>
              </a:spcAft>
              <a:defRPr sz="2000"/>
            </a:pPr>
            <a:r>
              <a:t>•    Attendance percentage</a:t>
            </a:r>
          </a:p>
          <a:p>
            <a:pPr>
              <a:spcAft>
                <a:spcPts val="800"/>
              </a:spcAft>
              <a:defRPr sz="2000"/>
            </a:pPr>
            <a:r>
              <a:t>•    Previous / internal marks</a:t>
            </a:r>
          </a:p>
          <a:p>
            <a:pPr>
              <a:spcAft>
                <a:spcPts val="800"/>
              </a:spcAft>
              <a:defRPr sz="2000"/>
            </a:pPr>
            <a:r>
              <a:t>• Use Linear Regression (the syllabus algorithm) from scikit-learn.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• Prepare a realistic dataset of 200 students.</a:t>
            </a:r>
          </a:p>
          <a:p>
            <a:pPr>
              <a:spcAft>
                <a:spcPts val="800"/>
              </a:spcAft>
              <a:defRPr sz="2000"/>
            </a:pPr>
            <a:r>
              <a:t>• Explore and clean the data.</a:t>
            </a:r>
          </a:p>
          <a:p>
            <a:pPr>
              <a:spcAft>
                <a:spcPts val="800"/>
              </a:spcAft>
              <a:defRPr sz="2000"/>
            </a:pPr>
            <a:r>
              <a:t>• Train a Linear Regression model.</a:t>
            </a:r>
          </a:p>
          <a:p>
            <a:pPr>
              <a:spcAft>
                <a:spcPts val="800"/>
              </a:spcAft>
              <a:defRPr sz="2000"/>
            </a:pPr>
            <a:r>
              <a:t>• Predict final marks for unseen test data.</a:t>
            </a:r>
          </a:p>
          <a:p>
            <a:pPr>
              <a:spcAft>
                <a:spcPts val="800"/>
              </a:spcAft>
              <a:defRPr sz="2000"/>
            </a:pPr>
            <a:r>
              <a:t>• Evaluate using MAE, MSE, RMSE and R2.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Dataset &amp;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• 200 records, 4 columns, all numeric.</a:t>
            </a:r>
          </a:p>
          <a:p>
            <a:pPr>
              <a:spcAft>
                <a:spcPts val="800"/>
              </a:spcAft>
              <a:defRPr sz="2000"/>
            </a:pPr>
            <a:r>
              <a:t>• Study_Hours: approx. 1 - 10 hours/day</a:t>
            </a:r>
          </a:p>
          <a:p>
            <a:pPr>
              <a:spcAft>
                <a:spcPts val="800"/>
              </a:spcAft>
              <a:defRPr sz="2000"/>
            </a:pPr>
            <a:r>
              <a:t>• Attendance_Percentage: approx. 50 - 100%</a:t>
            </a:r>
          </a:p>
          <a:p>
            <a:pPr>
              <a:spcAft>
                <a:spcPts val="800"/>
              </a:spcAft>
              <a:defRPr sz="2000"/>
            </a:pPr>
            <a:r>
              <a:t>• Previous_Marks: approx. 30 - 95</a:t>
            </a:r>
          </a:p>
          <a:p>
            <a:pPr>
              <a:spcAft>
                <a:spcPts val="800"/>
              </a:spcAft>
              <a:defRPr sz="2000"/>
            </a:pPr>
            <a:r>
              <a:t>• Final_Marks (target): approx. 30 - 100</a:t>
            </a:r>
          </a:p>
          <a:p>
            <a:pPr>
              <a:spcAft>
                <a:spcPts val="800"/>
              </a:spcAft>
              <a:defRPr sz="2000"/>
            </a:pPr>
            <a:r>
              <a:t>• Split: 160 training / 40 testing, random_state = 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Methodology /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• Dataset -&gt; Data Preprocessing</a:t>
            </a:r>
          </a:p>
          <a:p>
            <a:pPr>
              <a:spcAft>
                <a:spcPts val="800"/>
              </a:spcAft>
              <a:defRPr sz="2000"/>
            </a:pPr>
            <a:r>
              <a:t>• -&gt; Exploratory Data Analysis</a:t>
            </a:r>
          </a:p>
          <a:p>
            <a:pPr>
              <a:spcAft>
                <a:spcPts val="800"/>
              </a:spcAft>
              <a:defRPr sz="2000"/>
            </a:pPr>
            <a:r>
              <a:t>• -&gt; Feature Selection -&gt; Train-Test Split (80/20)</a:t>
            </a:r>
          </a:p>
          <a:p>
            <a:pPr>
              <a:spcAft>
                <a:spcPts val="800"/>
              </a:spcAft>
              <a:defRPr sz="2000"/>
            </a:pPr>
            <a:r>
              <a:t>• -&gt; Linear Regression Training -&gt; Prediction</a:t>
            </a:r>
          </a:p>
          <a:p>
            <a:pPr>
              <a:spcAft>
                <a:spcPts val="800"/>
              </a:spcAft>
              <a:defRPr sz="2000"/>
            </a:pPr>
            <a:r>
              <a:t>• -&gt; Evaluation (MAE, MSE, RMSE, R2)</a:t>
            </a:r>
          </a:p>
          <a:p>
            <a:pPr>
              <a:spcAft>
                <a:spcPts val="800"/>
              </a:spcAft>
              <a:defRPr sz="2000"/>
            </a:pPr>
            <a:r>
              <a:t>• -&gt; Visualization -&gt; Conclusion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Linear Regression Algorithm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• Fits: Final_Marks = b0 + b1*Study_Hours + b2*Attendance + b3*Previous_Marks</a:t>
            </a:r>
          </a:p>
          <a:p>
            <a:pPr>
              <a:spcAft>
                <a:spcPts val="800"/>
              </a:spcAft>
              <a:defRPr sz="2000"/>
            </a:pPr>
            <a:r>
              <a:t>• b0 = -0.3966 (intercept)</a:t>
            </a:r>
          </a:p>
          <a:p>
            <a:pPr>
              <a:spcAft>
                <a:spcPts val="800"/>
              </a:spcAft>
              <a:defRPr sz="2000"/>
            </a:pPr>
            <a:r>
              <a:t>• b1 = 1.1695   b2 = 0.3000   b3 = 0.4084</a:t>
            </a:r>
          </a:p>
          <a:p>
            <a:pPr>
              <a:spcAft>
                <a:spcPts val="800"/>
              </a:spcAft>
              <a:defRPr sz="2000"/>
            </a:pPr>
            <a:r>
              <a:t>• Learned using the least-squares method in scikit-learn.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Exploratory Data Analysis</a:t>
            </a:r>
          </a:p>
        </p:txBody>
      </p:sp>
      <p:pic>
        <p:nvPicPr>
          <p:cNvPr id="3" name="Picture 2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303520" cy="4754880"/>
          </a:xfrm>
          <a:prstGeom prst="rect">
            <a:avLst/>
          </a:prstGeom>
        </p:spPr>
      </p:pic>
      <p:pic>
        <p:nvPicPr>
          <p:cNvPr id="4" name="Picture 3" descr="previous_marks_vs_final_mar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3035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Model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• MAE  = 5.6561</a:t>
            </a:r>
          </a:p>
          <a:p>
            <a:pPr>
              <a:spcAft>
                <a:spcPts val="800"/>
              </a:spcAft>
              <a:defRPr sz="2000"/>
            </a:pPr>
            <a:r>
              <a:t>• MSE  = 47.1436</a:t>
            </a:r>
          </a:p>
          <a:p>
            <a:pPr>
              <a:spcAft>
                <a:spcPts val="800"/>
              </a:spcAft>
              <a:defRPr sz="2000"/>
            </a:pPr>
            <a:r>
              <a:t>• RMSE = 6.8661</a:t>
            </a:r>
          </a:p>
          <a:p>
            <a:pPr>
              <a:spcAft>
                <a:spcPts val="800"/>
              </a:spcAft>
              <a:defRPr sz="2000"/>
            </a:pPr>
            <a:r>
              <a:t>• R2 Score = 0.6206</a:t>
            </a:r>
          </a:p>
          <a:p>
            <a:pPr>
              <a:spcAft>
                <a:spcPts val="800"/>
              </a:spcAft>
              <a:defRPr sz="2000"/>
            </a:pPr>
            <a:r>
              <a:t>• </a:t>
            </a:r>
          </a:p>
          <a:p>
            <a:pPr>
              <a:spcAft>
                <a:spcPts val="800"/>
              </a:spcAft>
              <a:defRPr sz="2000"/>
            </a:pPr>
            <a:r>
              <a:t>• The model explains about 62% of the variation in final marks.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Actual vs Predicted</a:t>
            </a:r>
          </a:p>
        </p:txBody>
      </p:sp>
      <p:pic>
        <p:nvPicPr>
          <p:cNvPr id="3" name="Picture 2" descr="actual_vs_predi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463040"/>
            <a:ext cx="59436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Conclusion &amp;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• Linear Regression gave a simple, interpretable predictor.</a:t>
            </a:r>
          </a:p>
          <a:p>
            <a:pPr>
              <a:spcAft>
                <a:spcPts val="800"/>
              </a:spcAft>
              <a:defRPr sz="2000"/>
            </a:pPr>
            <a:r>
              <a:t>• All coefficients positive - matches common sense.</a:t>
            </a:r>
          </a:p>
          <a:p>
            <a:pPr>
              <a:spcAft>
                <a:spcPts val="800"/>
              </a:spcAft>
              <a:defRPr sz="2000"/>
            </a:pPr>
            <a:r>
              <a:t>• Not perfect: average error about 5-6 marks.</a:t>
            </a:r>
          </a:p>
          <a:p>
            <a:pPr>
              <a:spcAft>
                <a:spcPts val="800"/>
              </a:spcAft>
              <a:defRPr sz="2000"/>
            </a:pPr>
            <a:r>
              <a:t>• Future: larger real dataset, more features (assignments, sleep, consistency), comparison with other syllabus algorithms.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F4E79"/>
                </a:solidFill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